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9496" y="274320"/>
            <a:ext cx="50800" cy="438912"/>
          </a:xfrm>
          <a:prstGeom prst="rect">
            <a:avLst/>
          </a:prstGeom>
          <a:solidFill>
            <a:srgbClr val="177C68"/>
          </a:solidFill>
          <a:ln w="635">
            <a:solidFill>
              <a:srgbClr val="177C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8815" y="218439"/>
            <a:ext cx="11612880" cy="628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123B53"/>
                </a:solidFill>
                <a:latin typeface="Noto Sans CJK KR"/>
              </a:rPr>
              <a:t>Convolution: 작은 필터의 계산이 Feature Map으로 이어집니다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06703"/>
            <a:ext cx="10187940" cy="3352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647A89"/>
                </a:solidFill>
                <a:latin typeface="Noto Sans CJK KR"/>
              </a:rPr>
              <a:t>입력의 일부와 Kernel을 곱해 합산합니다. Kernel을 한 칸씩 옮기면 다음 출력값이 만들어집니다.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344168"/>
            <a:ext cx="3300984" cy="3182112"/>
          </a:xfrm>
          <a:prstGeom prst="roundRect">
            <a:avLst>
              <a:gd name="adj" fmla="val 8000"/>
            </a:avLst>
          </a:prstGeom>
          <a:solidFill>
            <a:srgbClr val="F8FBFC"/>
          </a:solidFill>
          <a:ln w="12700">
            <a:solidFill>
              <a:srgbClr val="DCE9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04088" y="1545336"/>
            <a:ext cx="393192" cy="329184"/>
          </a:xfrm>
          <a:prstGeom prst="roundRect">
            <a:avLst>
              <a:gd name="adj" fmla="val 8000"/>
            </a:avLst>
          </a:prstGeom>
          <a:solidFill>
            <a:srgbClr val="E5F4F0"/>
          </a:solidFill>
          <a:ln w="6400">
            <a:solidFill>
              <a:srgbClr val="E5F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5452" y="1569638"/>
            <a:ext cx="411480" cy="2732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4" b="1">
                <a:solidFill>
                  <a:srgbClr val="177C68"/>
                </a:solidFill>
                <a:latin typeface="Noto Sans CJK K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9576" y="1521968"/>
            <a:ext cx="2246680" cy="3771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23B53"/>
                </a:solidFill>
                <a:latin typeface="Noto Sans CJK KR"/>
              </a:rPr>
              <a:t>입력에서 3×3 선택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344168"/>
            <a:ext cx="3264408" cy="3182112"/>
          </a:xfrm>
          <a:prstGeom prst="roundRect">
            <a:avLst>
              <a:gd name="adj" fmla="val 8000"/>
            </a:avLst>
          </a:prstGeom>
          <a:solidFill>
            <a:srgbClr val="F8FBFC"/>
          </a:solidFill>
          <a:ln w="12700">
            <a:solidFill>
              <a:srgbClr val="DCE9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79976" y="1545336"/>
            <a:ext cx="393192" cy="329184"/>
          </a:xfrm>
          <a:prstGeom prst="roundRect">
            <a:avLst>
              <a:gd name="adj" fmla="val 8000"/>
            </a:avLst>
          </a:prstGeom>
          <a:solidFill>
            <a:srgbClr val="E5F4F0"/>
          </a:solidFill>
          <a:ln w="6400">
            <a:solidFill>
              <a:srgbClr val="E5F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0324" y="1569638"/>
            <a:ext cx="411480" cy="2732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4" b="1">
                <a:solidFill>
                  <a:srgbClr val="177C68"/>
                </a:solidFill>
                <a:latin typeface="Noto Sans CJK K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5464" y="1521968"/>
            <a:ext cx="2333091" cy="3771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23B53"/>
                </a:solidFill>
                <a:latin typeface="Noto Sans CJK KR"/>
              </a:rPr>
              <a:t>Kernel을 곱해 합산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45552" y="1344168"/>
            <a:ext cx="3794760" cy="3182112"/>
          </a:xfrm>
          <a:prstGeom prst="roundRect">
            <a:avLst>
              <a:gd name="adj" fmla="val 8000"/>
            </a:avLst>
          </a:prstGeom>
          <a:solidFill>
            <a:srgbClr val="F8FBFC"/>
          </a:solidFill>
          <a:ln w="12700">
            <a:solidFill>
              <a:srgbClr val="DCE9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19288" y="1545336"/>
            <a:ext cx="393192" cy="329184"/>
          </a:xfrm>
          <a:prstGeom prst="roundRect">
            <a:avLst>
              <a:gd name="adj" fmla="val 8000"/>
            </a:avLst>
          </a:prstGeom>
          <a:solidFill>
            <a:srgbClr val="E5F4F0"/>
          </a:solidFill>
          <a:ln w="6400">
            <a:solidFill>
              <a:srgbClr val="E5F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9636" y="1569638"/>
            <a:ext cx="411480" cy="2732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4" b="1">
                <a:solidFill>
                  <a:srgbClr val="177C68"/>
                </a:solidFill>
                <a:latin typeface="Noto Sans CJK KR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94776" y="1521968"/>
            <a:ext cx="1963445" cy="3771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23B53"/>
                </a:solidFill>
                <a:latin typeface="Noto Sans CJK KR"/>
              </a:rPr>
              <a:t>출력 위치에 기록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" y="2011680"/>
            <a:ext cx="475488" cy="475488"/>
          </a:xfrm>
          <a:prstGeom prst="rect">
            <a:avLst/>
          </a:prstGeom>
          <a:solidFill>
            <a:srgbClr val="DDF2EA"/>
          </a:solidFill>
          <a:ln w="10160">
            <a:solidFill>
              <a:srgbClr val="80B8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59" y="2062480"/>
            <a:ext cx="411480" cy="3771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23B53"/>
                </a:solidFill>
                <a:latin typeface="Noto Sans CJK KR"/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80744" y="2011680"/>
            <a:ext cx="475488" cy="475488"/>
          </a:xfrm>
          <a:prstGeom prst="rect">
            <a:avLst/>
          </a:prstGeom>
          <a:solidFill>
            <a:srgbClr val="DDF2EA"/>
          </a:solidFill>
          <a:ln w="10160">
            <a:solidFill>
              <a:srgbClr val="80B8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12748" y="2062480"/>
            <a:ext cx="411480" cy="3771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23B53"/>
                </a:solidFill>
                <a:latin typeface="Noto Sans CJK KR"/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56231" y="2011680"/>
            <a:ext cx="475488" cy="475488"/>
          </a:xfrm>
          <a:prstGeom prst="rect">
            <a:avLst/>
          </a:prstGeom>
          <a:solidFill>
            <a:srgbClr val="DDF2EA"/>
          </a:solidFill>
          <a:ln w="10160">
            <a:solidFill>
              <a:srgbClr val="80B8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88236" y="2062480"/>
            <a:ext cx="411480" cy="3771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23B53"/>
                </a:solidFill>
                <a:latin typeface="Noto Sans CJK KR"/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31720" y="2011680"/>
            <a:ext cx="475488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BB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63724" y="2062480"/>
            <a:ext cx="411480" cy="3771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23B53"/>
                </a:solidFill>
                <a:latin typeface="Noto Sans CJK KR"/>
              </a:rPr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07208" y="2011680"/>
            <a:ext cx="475488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BB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39212" y="2062480"/>
            <a:ext cx="411480" cy="3771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23B53"/>
                </a:solidFill>
                <a:latin typeface="Noto Sans CJK KR"/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" y="2487168"/>
            <a:ext cx="475488" cy="475488"/>
          </a:xfrm>
          <a:prstGeom prst="rect">
            <a:avLst/>
          </a:prstGeom>
          <a:solidFill>
            <a:srgbClr val="DDF2EA"/>
          </a:solidFill>
          <a:ln w="10160">
            <a:solidFill>
              <a:srgbClr val="80B8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7259" y="2537967"/>
            <a:ext cx="411480" cy="3771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23B53"/>
                </a:solidFill>
                <a:latin typeface="Noto Sans CJK KR"/>
              </a:rPr>
              <a:t>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80744" y="2487168"/>
            <a:ext cx="475488" cy="475488"/>
          </a:xfrm>
          <a:prstGeom prst="rect">
            <a:avLst/>
          </a:prstGeom>
          <a:solidFill>
            <a:srgbClr val="DDF2EA"/>
          </a:solidFill>
          <a:ln w="10160">
            <a:solidFill>
              <a:srgbClr val="80B8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12748" y="2537967"/>
            <a:ext cx="411480" cy="3771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23B53"/>
                </a:solidFill>
                <a:latin typeface="Noto Sans CJK KR"/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56231" y="2487168"/>
            <a:ext cx="475488" cy="475488"/>
          </a:xfrm>
          <a:prstGeom prst="rect">
            <a:avLst/>
          </a:prstGeom>
          <a:solidFill>
            <a:srgbClr val="DDF2EA"/>
          </a:solidFill>
          <a:ln w="10160">
            <a:solidFill>
              <a:srgbClr val="80B8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88236" y="2537967"/>
            <a:ext cx="411480" cy="3771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23B53"/>
                </a:solidFill>
                <a:latin typeface="Noto Sans CJK KR"/>
              </a:rPr>
              <a:t>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31720" y="2487168"/>
            <a:ext cx="475488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BB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63724" y="2537967"/>
            <a:ext cx="411480" cy="3771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23B53"/>
                </a:solidFill>
                <a:latin typeface="Noto Sans CJK KR"/>
              </a:rPr>
              <a:t>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07208" y="2487168"/>
            <a:ext cx="475488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BB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39212" y="2537967"/>
            <a:ext cx="411480" cy="3771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23B53"/>
                </a:solidFill>
                <a:latin typeface="Noto Sans CJK KR"/>
              </a:rPr>
              <a:t>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5256" y="2962656"/>
            <a:ext cx="475488" cy="475488"/>
          </a:xfrm>
          <a:prstGeom prst="rect">
            <a:avLst/>
          </a:prstGeom>
          <a:solidFill>
            <a:srgbClr val="DDF2EA"/>
          </a:solidFill>
          <a:ln w="10160">
            <a:solidFill>
              <a:srgbClr val="80B8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7259" y="3012440"/>
            <a:ext cx="411480" cy="3771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23B53"/>
                </a:solidFill>
                <a:latin typeface="Noto Sans CJK KR"/>
              </a:rPr>
              <a:t>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80744" y="2962656"/>
            <a:ext cx="475488" cy="475488"/>
          </a:xfrm>
          <a:prstGeom prst="rect">
            <a:avLst/>
          </a:prstGeom>
          <a:solidFill>
            <a:srgbClr val="DDF2EA"/>
          </a:solidFill>
          <a:ln w="10160">
            <a:solidFill>
              <a:srgbClr val="80B8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412748" y="3012440"/>
            <a:ext cx="411480" cy="3771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23B53"/>
                </a:solidFill>
                <a:latin typeface="Noto Sans CJK KR"/>
              </a:rPr>
              <a:t>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56231" y="2962656"/>
            <a:ext cx="475488" cy="475488"/>
          </a:xfrm>
          <a:prstGeom prst="rect">
            <a:avLst/>
          </a:prstGeom>
          <a:solidFill>
            <a:srgbClr val="DDF2EA"/>
          </a:solidFill>
          <a:ln w="10160">
            <a:solidFill>
              <a:srgbClr val="80B8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888236" y="3012440"/>
            <a:ext cx="411480" cy="3771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23B53"/>
                </a:solidFill>
                <a:latin typeface="Noto Sans CJK KR"/>
              </a:rPr>
              <a:t>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31720" y="2962656"/>
            <a:ext cx="475488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BB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363724" y="3012440"/>
            <a:ext cx="411480" cy="3771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23B53"/>
                </a:solidFill>
                <a:latin typeface="Noto Sans CJK KR"/>
              </a:rPr>
              <a:t>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07208" y="2962656"/>
            <a:ext cx="475488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BB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839212" y="3012440"/>
            <a:ext cx="411480" cy="3771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23B53"/>
                </a:solidFill>
                <a:latin typeface="Noto Sans CJK KR"/>
              </a:rPr>
              <a:t>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5256" y="3438144"/>
            <a:ext cx="475488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BB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7259" y="3488943"/>
            <a:ext cx="411480" cy="3771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23B53"/>
                </a:solidFill>
                <a:latin typeface="Noto Sans CJK KR"/>
              </a:rPr>
              <a:t>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380744" y="3438144"/>
            <a:ext cx="475488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BB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412748" y="3488943"/>
            <a:ext cx="411480" cy="3771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23B53"/>
                </a:solidFill>
                <a:latin typeface="Noto Sans CJK KR"/>
              </a:rPr>
              <a:t>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856231" y="3438144"/>
            <a:ext cx="475488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BB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888236" y="3488943"/>
            <a:ext cx="411480" cy="3771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23B53"/>
                </a:solidFill>
                <a:latin typeface="Noto Sans CJK KR"/>
              </a:rPr>
              <a:t>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331720" y="3438144"/>
            <a:ext cx="475488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BB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63724" y="3488943"/>
            <a:ext cx="411480" cy="3771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23B53"/>
                </a:solidFill>
                <a:latin typeface="Noto Sans CJK KR"/>
              </a:rPr>
              <a:t>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807208" y="3438144"/>
            <a:ext cx="475488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BB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839212" y="3488943"/>
            <a:ext cx="411480" cy="3771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23B53"/>
                </a:solidFill>
                <a:latin typeface="Noto Sans CJK KR"/>
              </a:rPr>
              <a:t>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5256" y="3913632"/>
            <a:ext cx="475488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BB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7259" y="3964432"/>
            <a:ext cx="411480" cy="3771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23B53"/>
                </a:solidFill>
                <a:latin typeface="Noto Sans CJK KR"/>
              </a:rPr>
              <a:t>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80744" y="3913632"/>
            <a:ext cx="475488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BB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412748" y="3964432"/>
            <a:ext cx="411480" cy="3771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23B53"/>
                </a:solidFill>
                <a:latin typeface="Noto Sans CJK KR"/>
              </a:rPr>
              <a:t>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56231" y="3913632"/>
            <a:ext cx="475488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BB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888236" y="3964432"/>
            <a:ext cx="411480" cy="3771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23B53"/>
                </a:solidFill>
                <a:latin typeface="Noto Sans CJK KR"/>
              </a:rPr>
              <a:t>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331720" y="3913632"/>
            <a:ext cx="475488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BB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363724" y="3964432"/>
            <a:ext cx="411480" cy="3771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23B53"/>
                </a:solidFill>
                <a:latin typeface="Noto Sans CJK KR"/>
              </a:rPr>
              <a:t>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807208" y="3913632"/>
            <a:ext cx="475488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BB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839212" y="3964432"/>
            <a:ext cx="411480" cy="3771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23B53"/>
                </a:solidFill>
                <a:latin typeface="Noto Sans CJK KR"/>
              </a:rPr>
              <a:t>3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881888" y="1989328"/>
            <a:ext cx="1472184" cy="0"/>
          </a:xfrm>
          <a:prstGeom prst="line">
            <a:avLst/>
          </a:prstGeom>
          <a:ln w="33020">
            <a:solidFill>
              <a:srgbClr val="D96A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881888" y="3461512"/>
            <a:ext cx="1472184" cy="0"/>
          </a:xfrm>
          <a:prstGeom prst="line">
            <a:avLst/>
          </a:prstGeom>
          <a:ln w="33020">
            <a:solidFill>
              <a:srgbClr val="D96A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881888" y="1989328"/>
            <a:ext cx="0" cy="1472184"/>
          </a:xfrm>
          <a:prstGeom prst="line">
            <a:avLst/>
          </a:prstGeom>
          <a:ln w="33020">
            <a:solidFill>
              <a:srgbClr val="D96A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354072" y="1989328"/>
            <a:ext cx="0" cy="1472184"/>
          </a:xfrm>
          <a:prstGeom prst="line">
            <a:avLst/>
          </a:prstGeom>
          <a:ln w="33020">
            <a:solidFill>
              <a:srgbClr val="D96A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4846320" y="2276856"/>
            <a:ext cx="649224" cy="649224"/>
          </a:xfrm>
          <a:prstGeom prst="rect">
            <a:avLst/>
          </a:prstGeom>
          <a:solidFill>
            <a:srgbClr val="E8F3F8"/>
          </a:solidFill>
          <a:ln w="10160">
            <a:solidFill>
              <a:srgbClr val="AF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964684" y="2361102"/>
            <a:ext cx="411480" cy="4828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4" b="1">
                <a:solidFill>
                  <a:srgbClr val="123B53"/>
                </a:solidFill>
                <a:latin typeface="Noto Sans CJK KR"/>
              </a:rPr>
              <a:t>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495544" y="2276856"/>
            <a:ext cx="649224" cy="649224"/>
          </a:xfrm>
          <a:prstGeom prst="rect">
            <a:avLst/>
          </a:prstGeom>
          <a:solidFill>
            <a:srgbClr val="FFFFFF"/>
          </a:solidFill>
          <a:ln w="10160">
            <a:solidFill>
              <a:srgbClr val="AF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614924" y="2361102"/>
            <a:ext cx="411480" cy="4828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4" b="1">
                <a:solidFill>
                  <a:srgbClr val="123B53"/>
                </a:solidFill>
                <a:latin typeface="Noto Sans CJK KR"/>
              </a:rPr>
              <a:t>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144768" y="2276856"/>
            <a:ext cx="649224" cy="649224"/>
          </a:xfrm>
          <a:prstGeom prst="rect">
            <a:avLst/>
          </a:prstGeom>
          <a:solidFill>
            <a:srgbClr val="FDECE6"/>
          </a:solidFill>
          <a:ln w="10160">
            <a:solidFill>
              <a:srgbClr val="AF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63132" y="2361102"/>
            <a:ext cx="411480" cy="4828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4" b="1">
                <a:solidFill>
                  <a:srgbClr val="D96A4F"/>
                </a:solidFill>
                <a:latin typeface="Noto Sans CJK KR"/>
              </a:rPr>
              <a:t>-1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846320" y="2926080"/>
            <a:ext cx="649224" cy="649224"/>
          </a:xfrm>
          <a:prstGeom prst="rect">
            <a:avLst/>
          </a:prstGeom>
          <a:solidFill>
            <a:srgbClr val="E8F3F8"/>
          </a:solidFill>
          <a:ln w="10160">
            <a:solidFill>
              <a:srgbClr val="AF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964684" y="3010326"/>
            <a:ext cx="411480" cy="4828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4" b="1">
                <a:solidFill>
                  <a:srgbClr val="123B53"/>
                </a:solidFill>
                <a:latin typeface="Noto Sans CJK KR"/>
              </a:rPr>
              <a:t>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495544" y="2926080"/>
            <a:ext cx="649224" cy="649224"/>
          </a:xfrm>
          <a:prstGeom prst="rect">
            <a:avLst/>
          </a:prstGeom>
          <a:solidFill>
            <a:srgbClr val="FFFFFF"/>
          </a:solidFill>
          <a:ln w="10160">
            <a:solidFill>
              <a:srgbClr val="AF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614924" y="3010326"/>
            <a:ext cx="411480" cy="4828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4" b="1">
                <a:solidFill>
                  <a:srgbClr val="123B53"/>
                </a:solidFill>
                <a:latin typeface="Noto Sans CJK KR"/>
              </a:rPr>
              <a:t>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144768" y="2926080"/>
            <a:ext cx="649224" cy="649224"/>
          </a:xfrm>
          <a:prstGeom prst="rect">
            <a:avLst/>
          </a:prstGeom>
          <a:solidFill>
            <a:srgbClr val="FDECE6"/>
          </a:solidFill>
          <a:ln w="10160">
            <a:solidFill>
              <a:srgbClr val="AF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263132" y="3010326"/>
            <a:ext cx="411480" cy="4828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4" b="1">
                <a:solidFill>
                  <a:srgbClr val="D96A4F"/>
                </a:solidFill>
                <a:latin typeface="Noto Sans CJK KR"/>
              </a:rPr>
              <a:t>-1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846320" y="3575303"/>
            <a:ext cx="649224" cy="649224"/>
          </a:xfrm>
          <a:prstGeom prst="rect">
            <a:avLst/>
          </a:prstGeom>
          <a:solidFill>
            <a:srgbClr val="E8F3F8"/>
          </a:solidFill>
          <a:ln w="10160">
            <a:solidFill>
              <a:srgbClr val="AF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964684" y="3659550"/>
            <a:ext cx="411480" cy="4828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4" b="1">
                <a:solidFill>
                  <a:srgbClr val="123B53"/>
                </a:solidFill>
                <a:latin typeface="Noto Sans CJK KR"/>
              </a:rPr>
              <a:t>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495544" y="3575303"/>
            <a:ext cx="649224" cy="649224"/>
          </a:xfrm>
          <a:prstGeom prst="rect">
            <a:avLst/>
          </a:prstGeom>
          <a:solidFill>
            <a:srgbClr val="FFFFFF"/>
          </a:solidFill>
          <a:ln w="10160">
            <a:solidFill>
              <a:srgbClr val="AF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614924" y="3659550"/>
            <a:ext cx="411480" cy="4828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4" b="1">
                <a:solidFill>
                  <a:srgbClr val="123B53"/>
                </a:solidFill>
                <a:latin typeface="Noto Sans CJK KR"/>
              </a:rPr>
              <a:t>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144768" y="3575303"/>
            <a:ext cx="649224" cy="649224"/>
          </a:xfrm>
          <a:prstGeom prst="rect">
            <a:avLst/>
          </a:prstGeom>
          <a:solidFill>
            <a:srgbClr val="FDECE6"/>
          </a:solidFill>
          <a:ln w="10160">
            <a:solidFill>
              <a:srgbClr val="AF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263132" y="3659550"/>
            <a:ext cx="411480" cy="4828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4" b="1">
                <a:solidFill>
                  <a:srgbClr val="D96A4F"/>
                </a:solidFill>
                <a:latin typeface="Noto Sans CJK KR"/>
              </a:rPr>
              <a:t>-1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741664" y="2313432"/>
            <a:ext cx="640080" cy="640080"/>
          </a:xfrm>
          <a:prstGeom prst="rect">
            <a:avLst/>
          </a:prstGeom>
          <a:solidFill>
            <a:srgbClr val="DDF2EA"/>
          </a:solidFill>
          <a:ln w="25400">
            <a:solidFill>
              <a:srgbClr val="168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855964" y="2404872"/>
            <a:ext cx="411480" cy="4610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177C68"/>
                </a:solidFill>
                <a:latin typeface="Noto Sans CJK KR"/>
              </a:rPr>
              <a:t>-6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381744" y="2313432"/>
            <a:ext cx="640080" cy="640080"/>
          </a:xfrm>
          <a:prstGeom prst="rect">
            <a:avLst/>
          </a:prstGeom>
          <a:solidFill>
            <a:srgbClr val="FFFFFF"/>
          </a:solidFill>
          <a:ln w="8839">
            <a:solidFill>
              <a:srgbClr val="B6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496044" y="2404872"/>
            <a:ext cx="411480" cy="4610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123B53"/>
                </a:solidFill>
                <a:latin typeface="Noto Sans CJK KR"/>
              </a:rPr>
              <a:t>12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021824" y="2313432"/>
            <a:ext cx="640080" cy="640080"/>
          </a:xfrm>
          <a:prstGeom prst="rect">
            <a:avLst/>
          </a:prstGeom>
          <a:solidFill>
            <a:srgbClr val="FFFFFF"/>
          </a:solidFill>
          <a:ln w="8839">
            <a:solidFill>
              <a:srgbClr val="B6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136124" y="2404872"/>
            <a:ext cx="411480" cy="4610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123B53"/>
                </a:solidFill>
                <a:latin typeface="Noto Sans CJK KR"/>
              </a:rPr>
              <a:t>16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741664" y="2953512"/>
            <a:ext cx="640080" cy="640080"/>
          </a:xfrm>
          <a:prstGeom prst="rect">
            <a:avLst/>
          </a:prstGeom>
          <a:solidFill>
            <a:srgbClr val="FFFFFF"/>
          </a:solidFill>
          <a:ln w="8839">
            <a:solidFill>
              <a:srgbClr val="B6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855964" y="3044952"/>
            <a:ext cx="411480" cy="4610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123B53"/>
                </a:solidFill>
                <a:latin typeface="Noto Sans CJK KR"/>
              </a:rPr>
              <a:t>-6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381744" y="2953512"/>
            <a:ext cx="640080" cy="640080"/>
          </a:xfrm>
          <a:prstGeom prst="rect">
            <a:avLst/>
          </a:prstGeom>
          <a:solidFill>
            <a:srgbClr val="FFFFFF"/>
          </a:solidFill>
          <a:ln w="8839">
            <a:solidFill>
              <a:srgbClr val="B6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496044" y="3044952"/>
            <a:ext cx="411480" cy="4610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123B53"/>
                </a:solidFill>
                <a:latin typeface="Noto Sans CJK KR"/>
              </a:rPr>
              <a:t>8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021824" y="2953512"/>
            <a:ext cx="640080" cy="640080"/>
          </a:xfrm>
          <a:prstGeom prst="rect">
            <a:avLst/>
          </a:prstGeom>
          <a:solidFill>
            <a:srgbClr val="FFFFFF"/>
          </a:solidFill>
          <a:ln w="8839">
            <a:solidFill>
              <a:srgbClr val="B6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136124" y="3044952"/>
            <a:ext cx="411480" cy="4610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123B53"/>
                </a:solidFill>
                <a:latin typeface="Noto Sans CJK KR"/>
              </a:rPr>
              <a:t>15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741664" y="3593591"/>
            <a:ext cx="640080" cy="640080"/>
          </a:xfrm>
          <a:prstGeom prst="rect">
            <a:avLst/>
          </a:prstGeom>
          <a:solidFill>
            <a:srgbClr val="FFFFFF"/>
          </a:solidFill>
          <a:ln w="8839">
            <a:solidFill>
              <a:srgbClr val="B6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855964" y="3684016"/>
            <a:ext cx="411480" cy="4610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123B53"/>
                </a:solidFill>
                <a:latin typeface="Noto Sans CJK KR"/>
              </a:rPr>
              <a:t>-4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381744" y="3593591"/>
            <a:ext cx="640080" cy="640080"/>
          </a:xfrm>
          <a:prstGeom prst="rect">
            <a:avLst/>
          </a:prstGeom>
          <a:solidFill>
            <a:srgbClr val="FFFFFF"/>
          </a:solidFill>
          <a:ln w="8839">
            <a:solidFill>
              <a:srgbClr val="B6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496044" y="3684016"/>
            <a:ext cx="411480" cy="4610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123B53"/>
                </a:solidFill>
                <a:latin typeface="Noto Sans CJK KR"/>
              </a:rPr>
              <a:t>2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021824" y="3593591"/>
            <a:ext cx="640080" cy="640080"/>
          </a:xfrm>
          <a:prstGeom prst="rect">
            <a:avLst/>
          </a:prstGeom>
          <a:solidFill>
            <a:srgbClr val="FFFFFF"/>
          </a:solidFill>
          <a:ln w="8839">
            <a:solidFill>
              <a:srgbClr val="B6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136124" y="3684016"/>
            <a:ext cx="411480" cy="4610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123B53"/>
                </a:solidFill>
                <a:latin typeface="Noto Sans CJK KR"/>
              </a:rPr>
              <a:t>7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3831336" y="2926080"/>
            <a:ext cx="210312" cy="0"/>
          </a:xfrm>
          <a:prstGeom prst="line">
            <a:avLst/>
          </a:prstGeom>
          <a:ln w="33020">
            <a:solidFill>
              <a:srgbClr val="2F7E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Isosceles Triangle 108"/>
          <p:cNvSpPr/>
          <p:nvPr/>
        </p:nvSpPr>
        <p:spPr>
          <a:xfrm rot="5400000">
            <a:off x="4023360" y="2834640"/>
            <a:ext cx="137160" cy="182880"/>
          </a:xfrm>
          <a:prstGeom prst="triangle">
            <a:avLst/>
          </a:prstGeom>
          <a:solidFill>
            <a:srgbClr val="2F7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0" name="Connector 109"/>
          <p:cNvCxnSpPr/>
          <p:nvPr/>
        </p:nvCxnSpPr>
        <p:spPr>
          <a:xfrm>
            <a:off x="7470648" y="2926080"/>
            <a:ext cx="219456" cy="0"/>
          </a:xfrm>
          <a:prstGeom prst="line">
            <a:avLst/>
          </a:prstGeom>
          <a:ln w="33020">
            <a:solidFill>
              <a:srgbClr val="2F7E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Isosceles Triangle 110"/>
          <p:cNvSpPr/>
          <p:nvPr/>
        </p:nvSpPr>
        <p:spPr>
          <a:xfrm rot="5400000">
            <a:off x="7671816" y="2834640"/>
            <a:ext cx="137160" cy="182880"/>
          </a:xfrm>
          <a:prstGeom prst="triangle">
            <a:avLst/>
          </a:prstGeom>
          <a:solidFill>
            <a:srgbClr val="2F7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530352" y="4736592"/>
            <a:ext cx="11119104" cy="1581912"/>
          </a:xfrm>
          <a:prstGeom prst="roundRect">
            <a:avLst>
              <a:gd name="adj" fmla="val 8000"/>
            </a:avLst>
          </a:prstGeom>
          <a:solidFill>
            <a:srgbClr val="F3F9F7"/>
          </a:solidFill>
          <a:ln w="12700">
            <a:solidFill>
              <a:srgbClr val="CC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68096" y="4830998"/>
            <a:ext cx="4049679" cy="3989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904" b="1">
                <a:solidFill>
                  <a:srgbClr val="177C68"/>
                </a:solidFill>
                <a:latin typeface="Noto Sans CJK KR"/>
              </a:rPr>
              <a:t>첫 출력값 −6이 만들어지는 과정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8869680" y="4965192"/>
            <a:ext cx="0" cy="1179576"/>
          </a:xfrm>
          <a:prstGeom prst="line">
            <a:avLst/>
          </a:prstGeom>
          <a:ln w="19100">
            <a:solidFill>
              <a:srgbClr val="B9D7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ounded Rectangle 114"/>
          <p:cNvSpPr/>
          <p:nvPr/>
        </p:nvSpPr>
        <p:spPr>
          <a:xfrm>
            <a:off x="786384" y="5276088"/>
            <a:ext cx="265176" cy="246888"/>
          </a:xfrm>
          <a:prstGeom prst="roundRect">
            <a:avLst>
              <a:gd name="adj" fmla="val 8000"/>
            </a:avLst>
          </a:prstGeom>
          <a:solidFill>
            <a:srgbClr val="E2F2ED"/>
          </a:solidFill>
          <a:ln w="7620">
            <a:solidFill>
              <a:srgbClr val="B1D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12724" y="5274056"/>
            <a:ext cx="41148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77C68"/>
                </a:solidFill>
                <a:latin typeface="Noto Sans CJK KR"/>
              </a:rP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152144" y="5251622"/>
            <a:ext cx="3132722" cy="3151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4" b="0">
                <a:solidFill>
                  <a:srgbClr val="123B53"/>
                </a:solidFill>
                <a:latin typeface="Noto Sans CJK KR"/>
              </a:rPr>
              <a:t>1×1 + 2×0 + 3×(−1) = −2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786384" y="5586983"/>
            <a:ext cx="265176" cy="246888"/>
          </a:xfrm>
          <a:prstGeom prst="roundRect">
            <a:avLst>
              <a:gd name="adj" fmla="val 8000"/>
            </a:avLst>
          </a:prstGeom>
          <a:solidFill>
            <a:srgbClr val="E2F2ED"/>
          </a:solidFill>
          <a:ln w="7620">
            <a:solidFill>
              <a:srgbClr val="B1D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712724" y="5584952"/>
            <a:ext cx="41148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77C68"/>
                </a:solidFill>
                <a:latin typeface="Noto Sans CJK KR"/>
              </a:rPr>
              <a:t>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152144" y="5562518"/>
            <a:ext cx="3132722" cy="3151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4" b="0">
                <a:solidFill>
                  <a:srgbClr val="123B53"/>
                </a:solidFill>
                <a:latin typeface="Noto Sans CJK KR"/>
              </a:rPr>
              <a:t>4×1 + 5×0 + 6×(−1) = −2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786384" y="5897880"/>
            <a:ext cx="265176" cy="246888"/>
          </a:xfrm>
          <a:prstGeom prst="roundRect">
            <a:avLst>
              <a:gd name="adj" fmla="val 8000"/>
            </a:avLst>
          </a:prstGeom>
          <a:solidFill>
            <a:srgbClr val="E2F2ED"/>
          </a:solidFill>
          <a:ln w="7620">
            <a:solidFill>
              <a:srgbClr val="B1D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12724" y="5895848"/>
            <a:ext cx="41148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77C68"/>
                </a:solidFill>
                <a:latin typeface="Noto Sans CJK KR"/>
              </a:rPr>
              <a:t>3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152144" y="5873414"/>
            <a:ext cx="3132722" cy="3151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4" b="0">
                <a:solidFill>
                  <a:srgbClr val="123B53"/>
                </a:solidFill>
                <a:latin typeface="Noto Sans CJK KR"/>
              </a:rPr>
              <a:t>7×1 + 8×0 + 9×(−1) = −2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9116567" y="5111496"/>
            <a:ext cx="2221991" cy="960120"/>
          </a:xfrm>
          <a:prstGeom prst="roundRect">
            <a:avLst>
              <a:gd name="adj" fmla="val 8000"/>
            </a:avLst>
          </a:prstGeom>
          <a:solidFill>
            <a:srgbClr val="DDF2EA"/>
          </a:solidFill>
          <a:ln w="12700">
            <a:solidFill>
              <a:srgbClr val="A3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9543630" y="5194808"/>
            <a:ext cx="1340434" cy="2933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77C68"/>
                </a:solidFill>
                <a:latin typeface="Noto Sans CJK KR"/>
              </a:rPr>
              <a:t>세 행을 더하면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082481" y="5440598"/>
            <a:ext cx="2281021" cy="4408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104" b="1">
                <a:solidFill>
                  <a:srgbClr val="177C68"/>
                </a:solidFill>
                <a:latin typeface="Noto Sans CJK KR"/>
              </a:rPr>
              <a:t>−2−2−2 = −6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03504" y="6451600"/>
            <a:ext cx="5267324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47A89"/>
                </a:solidFill>
                <a:latin typeface="Noto Sans CJK KR"/>
              </a:rPr>
              <a:t>Stride = 1  ·  Padding = 0  ·  Bias = 0  ·  ReLU 적용 전(음수 유지)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854616" y="6423070"/>
            <a:ext cx="1657679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4" b="1">
                <a:solidFill>
                  <a:srgbClr val="177C68"/>
                </a:solidFill>
                <a:latin typeface="Noto Sans CJK KR"/>
              </a:rPr>
              <a:t>다음 장: Feature 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